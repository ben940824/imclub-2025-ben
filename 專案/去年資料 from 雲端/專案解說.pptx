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9Tol9QYaBQQHvHnjoqwqXKR4w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6c49e3f2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266c49e3f2c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6c49e3f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66c49e3f2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6c49e3f2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266c49e3f2c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6c49e3f2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266c49e3f2c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6c49e3f2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66c49e3f2c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6c49e3f2c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6c49e3f2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3fe414ce3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b3fe414ce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6c49e3f2c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6c49e3f2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6c49e3f2c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6c49e3f2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6c49e3f2c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6c49e3f2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6c49e3f2c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6c49e3f2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6c49e3f2c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6c49e3f2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6c49e3f2c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6c49e3f2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6c49e3f2c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6c49e3f2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6c49e3f2c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6c49e3f2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66c49e3f2c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66c49e3f2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3fe414ce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2b3fe414ce3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5840730" y="1122363"/>
            <a:ext cx="482727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5840730" y="3602038"/>
            <a:ext cx="482727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>
  <p:cSld name="章節標題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096000" y="2002631"/>
            <a:ext cx="525145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ctrTitle"/>
          </p:nvPr>
        </p:nvSpPr>
        <p:spPr>
          <a:xfrm>
            <a:off x="5840730" y="1122363"/>
            <a:ext cx="482727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專案解說</a:t>
            </a:r>
            <a:endParaRPr/>
          </a:p>
        </p:txBody>
      </p:sp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5840730" y="3602038"/>
            <a:ext cx="482727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zh-TW"/>
              <a:t>賴旻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6c49e3f2c_0_9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zh-TW"/>
              <a:t>所有課程、專案的檔案連結</a:t>
            </a:r>
            <a:endParaRPr/>
          </a:p>
        </p:txBody>
      </p:sp>
      <p:sp>
        <p:nvSpPr>
          <p:cNvPr id="90" name="Google Shape;90;g266c49e3f2c_0_9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1" name="Google Shape;91;g266c49e3f2c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900" y="1841125"/>
            <a:ext cx="4320200" cy="43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096000" y="2002631"/>
            <a:ext cx="525145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專案目標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zh-TW"/>
              <a:t>專案目標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透過數據分析等方法，為目標企業或單位提出商業策略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營隊第五日每組上台報告 6 ~ 7 分鐘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6c49e3f2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zh-TW"/>
              <a:t>小提醒</a:t>
            </a:r>
            <a:endParaRPr/>
          </a:p>
        </p:txBody>
      </p:sp>
      <p:sp>
        <p:nvSpPr>
          <p:cNvPr id="108" name="Google Shape;108;g266c49e3f2c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專案中的問題為引導式問題，可自行選擇作答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可依照組員專長分工，無時間順序性的題目也可以同時進行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ChatGPT 會是你的好幫手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做專案時如果卡關，歡迎來找課程部的助教們問問題！</a:t>
            </a:r>
            <a:br>
              <a:rPr lang="zh-TW"/>
            </a:br>
            <a:r>
              <a:rPr lang="zh-TW"/>
              <a:t>（我們在第三天有專門的 Office Hour 喔！）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6096000" y="2002631"/>
            <a:ext cx="525145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範例專案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6c49e3f2c_0_96"/>
          <p:cNvSpPr txBox="1"/>
          <p:nvPr>
            <p:ph type="title"/>
          </p:nvPr>
        </p:nvSpPr>
        <p:spPr>
          <a:xfrm>
            <a:off x="4866550" y="2002625"/>
            <a:ext cx="71085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時光書樓的數位轉型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6c49e3f2c_0_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zh-TW"/>
              <a:t>情境</a:t>
            </a:r>
            <a:endParaRPr/>
          </a:p>
        </p:txBody>
      </p:sp>
      <p:sp>
        <p:nvSpPr>
          <p:cNvPr id="124" name="Google Shape;124;g266c49e3f2c_0_3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傳統書店在現代的挑戰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歷史悠久的老書店，藏書豐富並累積一定的忠實顧客群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電子化時代來臨，實體書的銷售大幅下降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數位轉型：開發網路書店市場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網路書店暢銷書分析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書店本身的營運分析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66c49e3f2c_0_10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zh-TW"/>
              <a:t>目標</a:t>
            </a:r>
            <a:endParaRPr/>
          </a:p>
        </p:txBody>
      </p:sp>
      <p:sp>
        <p:nvSpPr>
          <p:cNvPr id="130" name="Google Shape;130;g266c49e3f2c_0_104"/>
          <p:cNvSpPr txBox="1"/>
          <p:nvPr>
            <p:ph idx="1" type="body"/>
          </p:nvPr>
        </p:nvSpPr>
        <p:spPr>
          <a:xfrm>
            <a:off x="738550" y="1825625"/>
            <a:ext cx="10761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/>
              <a:t>協助時光書樓進行數位轉型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/>
              <a:t>提出有效的銷售策略！</a:t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6c49e3f2c_0_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資料集</a:t>
            </a:r>
            <a:endParaRPr/>
          </a:p>
        </p:txBody>
      </p:sp>
      <p:sp>
        <p:nvSpPr>
          <p:cNvPr id="136" name="Google Shape;136;g266c49e3f2c_0_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Amazon </a:t>
            </a:r>
            <a:r>
              <a:rPr lang="zh-TW"/>
              <a:t>近 10 年每年銷售前五十名的暢銷書</a:t>
            </a:r>
            <a:endParaRPr/>
          </a:p>
        </p:txBody>
      </p:sp>
      <p:pic>
        <p:nvPicPr>
          <p:cNvPr id="137" name="Google Shape;137;g266c49e3f2c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75" y="2980600"/>
            <a:ext cx="11168851" cy="26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3fe414ce3_1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資料集</a:t>
            </a:r>
            <a:endParaRPr/>
          </a:p>
        </p:txBody>
      </p:sp>
      <p:sp>
        <p:nvSpPr>
          <p:cNvPr id="143" name="Google Shape;143;g2b3fe414ce3_1_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時光書樓目前藏書及詳細資料</a:t>
            </a:r>
            <a:endParaRPr/>
          </a:p>
        </p:txBody>
      </p:sp>
      <p:pic>
        <p:nvPicPr>
          <p:cNvPr id="144" name="Google Shape;144;g2b3fe414ce3_1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13" y="2847238"/>
            <a:ext cx="11470974" cy="23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6c49e3f2c_0_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SWOT </a:t>
            </a:r>
            <a:r>
              <a:rPr lang="zh-TW"/>
              <a:t>分析</a:t>
            </a:r>
            <a:endParaRPr/>
          </a:p>
        </p:txBody>
      </p:sp>
      <p:cxnSp>
        <p:nvCxnSpPr>
          <p:cNvPr id="150" name="Google Shape;150;g266c49e3f2c_0_52"/>
          <p:cNvCxnSpPr>
            <a:stCxn id="151" idx="1"/>
            <a:endCxn id="151" idx="3"/>
          </p:cNvCxnSpPr>
          <p:nvPr/>
        </p:nvCxnSpPr>
        <p:spPr>
          <a:xfrm>
            <a:off x="838200" y="4001225"/>
            <a:ext cx="105156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g266c49e3f2c_0_52"/>
          <p:cNvCxnSpPr>
            <a:stCxn id="151" idx="0"/>
            <a:endCxn id="151" idx="2"/>
          </p:cNvCxnSpPr>
          <p:nvPr/>
        </p:nvCxnSpPr>
        <p:spPr>
          <a:xfrm>
            <a:off x="6096000" y="1825625"/>
            <a:ext cx="0" cy="43512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g266c49e3f2c_0_52"/>
          <p:cNvSpPr txBox="1"/>
          <p:nvPr/>
        </p:nvSpPr>
        <p:spPr>
          <a:xfrm>
            <a:off x="870450" y="1825625"/>
            <a:ext cx="50775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chemeClr val="lt1"/>
                </a:solidFill>
              </a:rPr>
              <a:t>優勢</a:t>
            </a:r>
            <a:endParaRPr b="1" sz="4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lt1"/>
                </a:solidFill>
              </a:rPr>
              <a:t>豐富多元的藏書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lt1"/>
                </a:solidFill>
              </a:rPr>
              <a:t>已經累積一定的顧客群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54" name="Google Shape;154;g266c49e3f2c_0_52"/>
          <p:cNvSpPr txBox="1"/>
          <p:nvPr/>
        </p:nvSpPr>
        <p:spPr>
          <a:xfrm>
            <a:off x="6244050" y="1885925"/>
            <a:ext cx="52254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chemeClr val="lt1"/>
                </a:solidFill>
              </a:rPr>
              <a:t>劣</a:t>
            </a:r>
            <a:r>
              <a:rPr b="1" lang="zh-TW" sz="4000">
                <a:solidFill>
                  <a:schemeClr val="lt1"/>
                </a:solidFill>
              </a:rPr>
              <a:t>勢</a:t>
            </a:r>
            <a:endParaRPr b="1" sz="4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lt1"/>
                </a:solidFill>
              </a:rPr>
              <a:t>數位轉型可能造成原有客戶流失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lt1"/>
                </a:solidFill>
              </a:rPr>
              <a:t>技術轉型的成本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55" name="Google Shape;155;g266c49e3f2c_0_52"/>
          <p:cNvSpPr txBox="1"/>
          <p:nvPr/>
        </p:nvSpPr>
        <p:spPr>
          <a:xfrm>
            <a:off x="870450" y="4075725"/>
            <a:ext cx="52254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chemeClr val="lt1"/>
                </a:solidFill>
              </a:rPr>
              <a:t>機會</a:t>
            </a:r>
            <a:endParaRPr b="1" sz="4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lt1"/>
                </a:solidFill>
              </a:rPr>
              <a:t>網路書店的消費者數量持續增加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56" name="Google Shape;156;g266c49e3f2c_0_52"/>
          <p:cNvSpPr txBox="1"/>
          <p:nvPr/>
        </p:nvSpPr>
        <p:spPr>
          <a:xfrm>
            <a:off x="6244050" y="4075725"/>
            <a:ext cx="50775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000">
                <a:solidFill>
                  <a:schemeClr val="lt1"/>
                </a:solidFill>
              </a:rPr>
              <a:t>威脅</a:t>
            </a:r>
            <a:endParaRPr b="1" sz="4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lt1"/>
                </a:solidFill>
              </a:rPr>
              <a:t>商品較難製造市場區隔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6c49e3f2c_0_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Amazon 暢銷書分析 - 類別</a:t>
            </a:r>
            <a:endParaRPr/>
          </a:p>
        </p:txBody>
      </p:sp>
      <p:sp>
        <p:nvSpPr>
          <p:cNvPr id="162" name="Google Shape;162;g266c49e3f2c_0_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銷量最高的類別是童書、文學與青少年書籍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自我成長、傳記、商業類別也位居前茅。</a:t>
            </a:r>
            <a:endParaRPr/>
          </a:p>
        </p:txBody>
      </p:sp>
      <p:pic>
        <p:nvPicPr>
          <p:cNvPr id="163" name="Google Shape;163;g266c49e3f2c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175" y="2921975"/>
            <a:ext cx="7113634" cy="354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6c49e3f2c_0_1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Amazon 暢銷書分析 - </a:t>
            </a:r>
            <a:r>
              <a:rPr lang="zh-TW"/>
              <a:t>定價</a:t>
            </a:r>
            <a:endParaRPr/>
          </a:p>
        </p:txBody>
      </p:sp>
      <p:sp>
        <p:nvSpPr>
          <p:cNvPr id="169" name="Google Shape;169;g266c49e3f2c_0_1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一本書的價格大致落在 10 美元附近。</a:t>
            </a:r>
            <a:endParaRPr/>
          </a:p>
        </p:txBody>
      </p:sp>
      <p:pic>
        <p:nvPicPr>
          <p:cNvPr id="170" name="Google Shape;170;g266c49e3f2c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362" y="2453075"/>
            <a:ext cx="6217275" cy="399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6c49e3f2c_0_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時光書樓的銷售分析 - 銷售量</a:t>
            </a:r>
            <a:endParaRPr/>
          </a:p>
        </p:txBody>
      </p:sp>
      <p:sp>
        <p:nvSpPr>
          <p:cNvPr id="176" name="Google Shape;176;g266c49e3f2c_0_6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銷售量有逐年下降的趨勢</a:t>
            </a:r>
            <a:endParaRPr/>
          </a:p>
        </p:txBody>
      </p:sp>
      <p:pic>
        <p:nvPicPr>
          <p:cNvPr id="177" name="Google Shape;177;g266c49e3f2c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875" y="2440275"/>
            <a:ext cx="6180249" cy="39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6c49e3f2c_0_1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時光書樓的銷售分析 - 類別</a:t>
            </a:r>
            <a:endParaRPr/>
          </a:p>
        </p:txBody>
      </p:sp>
      <p:sp>
        <p:nvSpPr>
          <p:cNvPr id="183" name="Google Shape;183;g266c49e3f2c_0_1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銷量最高的是文學、青少年書籍，藝術與童書次之</a:t>
            </a:r>
            <a:endParaRPr/>
          </a:p>
        </p:txBody>
      </p:sp>
      <p:pic>
        <p:nvPicPr>
          <p:cNvPr id="184" name="Google Shape;184;g266c49e3f2c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600" y="2284000"/>
            <a:ext cx="6612776" cy="424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6c49e3f2c_0_1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時光書樓的銷售分析 - </a:t>
            </a:r>
            <a:r>
              <a:rPr lang="zh-TW"/>
              <a:t>定價</a:t>
            </a:r>
            <a:endParaRPr/>
          </a:p>
        </p:txBody>
      </p:sp>
      <p:sp>
        <p:nvSpPr>
          <p:cNvPr id="190" name="Google Shape;190;g266c49e3f2c_0_1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一本書價格大約落在 12 美元左右。</a:t>
            </a:r>
            <a:endParaRPr/>
          </a:p>
        </p:txBody>
      </p:sp>
      <p:pic>
        <p:nvPicPr>
          <p:cNvPr id="191" name="Google Shape;191;g266c49e3f2c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3950" y="2505775"/>
            <a:ext cx="5744100" cy="39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6c49e3f2c_0_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迴歸分析</a:t>
            </a:r>
            <a:endParaRPr/>
          </a:p>
        </p:txBody>
      </p:sp>
      <p:sp>
        <p:nvSpPr>
          <p:cNvPr id="197" name="Google Shape;197;g266c49e3f2c_0_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g266c49e3f2c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375" y="1559425"/>
            <a:ext cx="7527251" cy="488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6c49e3f2c_0_1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迴歸分析</a:t>
            </a:r>
            <a:endParaRPr/>
          </a:p>
        </p:txBody>
      </p:sp>
      <p:sp>
        <p:nvSpPr>
          <p:cNvPr id="204" name="Google Shape;204;g266c49e3f2c_0_14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R </a:t>
            </a:r>
            <a:r>
              <a:rPr lang="zh-TW"/>
              <a:t>平方值為 0.382，具有部分的解釋力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zh-TW"/>
              <a:t>顯著變數：</a:t>
            </a:r>
            <a:endParaRPr/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評分 - 評分越高，銷售量越高</a:t>
            </a:r>
            <a:endParaRPr sz="2800"/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是否有電子書 - 推行電子書可能促進銷售，但效果有限</a:t>
            </a:r>
            <a:endParaRPr sz="2800"/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折扣 - 打越多折，銷售量越高</a:t>
            </a:r>
            <a:endParaRPr sz="2800"/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zh-TW" sz="2800"/>
              <a:t>年份 - 時間越近，銷售量越低，與視覺化分析結果相同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6c49e3f2c_0_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建議與解方</a:t>
            </a:r>
            <a:endParaRPr/>
          </a:p>
        </p:txBody>
      </p:sp>
      <p:sp>
        <p:nvSpPr>
          <p:cNvPr id="210" name="Google Shape;210;g266c49e3f2c_0_72"/>
          <p:cNvSpPr txBox="1"/>
          <p:nvPr>
            <p:ph idx="1" type="body"/>
          </p:nvPr>
        </p:nvSpPr>
        <p:spPr>
          <a:xfrm>
            <a:off x="1285300" y="4001700"/>
            <a:ext cx="2778600" cy="187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推出實體與線上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皆可參與的活動</a:t>
            </a:r>
            <a:endParaRPr/>
          </a:p>
        </p:txBody>
      </p:sp>
      <p:pic>
        <p:nvPicPr>
          <p:cNvPr id="211" name="Google Shape;211;g266c49e3f2c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750" y="2169627"/>
            <a:ext cx="1325700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266c49e3f2c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300" y="2103251"/>
            <a:ext cx="1325700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266c49e3f2c_0_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6700" y="2103250"/>
            <a:ext cx="1325700" cy="13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66c49e3f2c_0_72"/>
          <p:cNvSpPr txBox="1"/>
          <p:nvPr/>
        </p:nvSpPr>
        <p:spPr>
          <a:xfrm>
            <a:off x="4893750" y="3936450"/>
            <a:ext cx="2848800" cy="20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lt1"/>
                </a:solidFill>
              </a:rPr>
              <a:t>考慮增加童書、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lt1"/>
                </a:solidFill>
              </a:rPr>
              <a:t>傳記類別的書籍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15" name="Google Shape;215;g266c49e3f2c_0_72"/>
          <p:cNvSpPr txBox="1"/>
          <p:nvPr/>
        </p:nvSpPr>
        <p:spPr>
          <a:xfrm>
            <a:off x="8572400" y="4001700"/>
            <a:ext cx="2334300" cy="18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800">
                <a:solidFill>
                  <a:schemeClr val="lt1"/>
                </a:solidFill>
              </a:rPr>
              <a:t>稍微降低定價或增加折扣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3fe414ce3_1_5"/>
          <p:cNvSpPr txBox="1"/>
          <p:nvPr>
            <p:ph type="title"/>
          </p:nvPr>
        </p:nvSpPr>
        <p:spPr>
          <a:xfrm>
            <a:off x="6096000" y="2002631"/>
            <a:ext cx="52515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謝謝大家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2023-09-15T16:17:41Z</dcterms:created>
  <dc:creator>禹翰 陳</dc:creator>
</cp:coreProperties>
</file>